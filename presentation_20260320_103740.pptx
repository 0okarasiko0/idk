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428750" y="458272"/>
            <a:ext cx="6286500" cy="90297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64"/>
              </a:lnSpc>
              <a:spcAft>
                <a:spcPts val="1080"/>
              </a:spcAft>
              <a:buNone/>
            </a:pPr>
            <a:r>
              <a:rPr lang="en-US" sz="32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Джеффри Эпштейн: Биография власти и преступления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343400" y="1682353"/>
            <a:ext cx="457200" cy="17145"/>
          </a:xfrm>
          <a:prstGeom prst="rect">
            <a:avLst/>
          </a:prstGeom>
          <a:solidFill>
            <a:srgbClr val="D4A44F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1883450"/>
            <a:ext cx="6286500" cy="6515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74"/>
              </a:lnSpc>
              <a:spcAft>
                <a:spcPts val="1080"/>
              </a:spcAft>
              <a:buNone/>
            </a:pPr>
            <a:r>
              <a:rPr lang="en-US" sz="19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Уолл-стрит до тюрьмы — анализ финансовой империи и криминальной сети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73906"/>
            <a:ext cx="80010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500" y="571500"/>
            <a:ext cx="3829050" cy="1828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20"/>
              </a:spcAft>
              <a:buNone/>
            </a:pPr>
            <a:r>
              <a:rPr lang="en-US" sz="900" b="1" dirty="0">
                <a:solidFill>
                  <a:srgbClr val="D4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71500" y="846356"/>
            <a:ext cx="3829050" cy="3829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080"/>
              </a:spcAft>
              <a:buNone/>
            </a:pPr>
            <a:r>
              <a:rPr lang="en-US" sz="25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Ранние годы и образование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1500" y="1549837"/>
            <a:ext cx="457200" cy="17145"/>
          </a:xfrm>
          <a:prstGeom prst="rect">
            <a:avLst/>
          </a:prstGeom>
          <a:solidFill>
            <a:srgbClr val="D4A44F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750397"/>
            <a:ext cx="3829050" cy="102298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1080"/>
              </a:spcAft>
              <a:buNone/>
            </a:pPr>
            <a:r>
              <a:rPr lang="en-US" sz="14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Бруклинское детство и незавершённое высшее образование не предвещали создание одной из самых закрытых финансовых структур 1980-х годов.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43450" y="571500"/>
            <a:ext cx="3829050" cy="3691890"/>
          </a:xfrm>
          <a:prstGeom prst="roundRect">
            <a:avLst>
              <a:gd name="adj" fmla="val 153"/>
            </a:avLst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77765" y="805815"/>
            <a:ext cx="336042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Родился 20 января 1953 года в Бруклине, Нью-Йорк, в семье рабочих еврейского происхождения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Учился в Купер-юнион (1969–1971) и Нью-Йоркском университете, но не получил степени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Преподавал математику и физику в элитной школе Далтон с 1974 по 1976 год, где познакомился с отцом председателя Bear Stearns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 карьеру в Bear Stearns в 1976 году, став ограниченным партнёром через 4 года (1980) благодаря работе с высокодоходными облигациями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500" y="457200"/>
            <a:ext cx="8001000" cy="1828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20"/>
              </a:spcAft>
              <a:buNone/>
            </a:pPr>
            <a:r>
              <a:rPr lang="en-US" sz="900" b="1" dirty="0">
                <a:solidFill>
                  <a:srgbClr val="D4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71500" y="732056"/>
            <a:ext cx="8001000" cy="3829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080"/>
              </a:spcAft>
              <a:buNone/>
            </a:pPr>
            <a:r>
              <a:rPr lang="en-US" sz="25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Финансовая империя: масштабы управления капиталом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1500" y="1298377"/>
            <a:ext cx="457200" cy="17145"/>
          </a:xfrm>
          <a:prstGeom prst="rect">
            <a:avLst/>
          </a:prstGeom>
          <a:solidFill>
            <a:srgbClr val="D4A44F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497241"/>
            <a:ext cx="8001000" cy="514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1080"/>
              </a:spcAft>
              <a:buNone/>
            </a:pPr>
            <a:r>
              <a:rPr lang="en-US" sz="14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Эпштейн построил эксклюзивную консалтинговую фирму с непрозрачной структурой активов, обслуживая только клиентов с ликвидными активами свыше $1 млрд.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2616" y="2239298"/>
            <a:ext cx="1943100" cy="1337310"/>
          </a:xfrm>
          <a:prstGeom prst="rect">
            <a:avLst/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61" y="2390835"/>
            <a:ext cx="1680210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2"/>
              </a:lnSpc>
              <a:buNone/>
            </a:pPr>
            <a:r>
              <a:rPr lang="en-US" sz="16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 млрд (2002, неаудировано)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61" y="2986980"/>
            <a:ext cx="1680210" cy="1943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2"/>
              </a:lnSpc>
              <a:buNone/>
            </a:pPr>
            <a:r>
              <a:rPr lang="en-US" sz="5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ЗАЯВЛЕННЫЕ АКТИВЫ ПОД УПРАВЛЕНИЕМ (ПИК)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2591127" y="2239298"/>
            <a:ext cx="1943100" cy="1337310"/>
          </a:xfrm>
          <a:prstGeom prst="rect">
            <a:avLst/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2572" y="2392174"/>
            <a:ext cx="1680210" cy="7258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2"/>
              </a:lnSpc>
              <a:buNone/>
            </a:pPr>
            <a:r>
              <a:rPr lang="en-US" sz="16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 млрд ликвидных активов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22572" y="3229689"/>
            <a:ext cx="1680210" cy="1943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2"/>
              </a:lnSpc>
              <a:buNone/>
            </a:pPr>
            <a:r>
              <a:rPr lang="en-US" sz="5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ПОРОГ ВХОДА ДЛЯ КЛИЕНТОВ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4609683" y="2239298"/>
            <a:ext cx="1943100" cy="1337310"/>
          </a:xfrm>
          <a:prstGeom prst="rect">
            <a:avLst/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1128" y="2389763"/>
            <a:ext cx="1680210" cy="8115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3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Trust Company (1996), офшорная структура в Виргинских островах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41128" y="3310146"/>
            <a:ext cx="1680210" cy="971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2"/>
              </a:lnSpc>
              <a:buNone/>
            </a:pPr>
            <a:r>
              <a:rPr lang="en-US" sz="5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ОПЕРАЦИОННЫЙ АКТИВ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6628239" y="2239298"/>
            <a:ext cx="1943100" cy="1337310"/>
          </a:xfrm>
          <a:prstGeom prst="rect">
            <a:avLst/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59684" y="2390254"/>
            <a:ext cx="1680210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6"/>
              </a:lnSpc>
              <a:buNone/>
            </a:pPr>
            <a:r>
              <a:rPr lang="en-US" sz="13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$77 млн (оценка 2019, приобретён частями в 1996–2007)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59684" y="3128695"/>
            <a:ext cx="1680210" cy="1943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2"/>
              </a:lnSpc>
              <a:buNone/>
            </a:pPr>
            <a:r>
              <a:rPr lang="en-US" sz="5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НЬЮ-ЙОРКСКОГО ОСОБНЯКА (9 E 71ST ST)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500" y="457200"/>
            <a:ext cx="8001000" cy="1828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20"/>
              </a:spcAft>
              <a:buNone/>
            </a:pPr>
            <a:r>
              <a:rPr lang="en-US" sz="900" b="1" dirty="0">
                <a:solidFill>
                  <a:srgbClr val="D4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71500" y="732056"/>
            <a:ext cx="8001000" cy="3829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080"/>
              </a:spcAft>
              <a:buNone/>
            </a:pPr>
            <a:r>
              <a:rPr lang="en-US" sz="25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Хронология преступной схемы (1996–2019)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1500" y="1298377"/>
            <a:ext cx="457200" cy="17145"/>
          </a:xfrm>
          <a:prstGeom prst="rect">
            <a:avLst/>
          </a:prstGeom>
          <a:solidFill>
            <a:srgbClr val="D4A44F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497241"/>
            <a:ext cx="8001000" cy="514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1080"/>
              </a:spcAft>
              <a:buNone/>
            </a:pPr>
            <a:r>
              <a:rPr lang="en-US" sz="14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Систематическая эксплуатация несовершеннолетних охватывала десятилетия, перемещаясь между резиденциями и маскируясь под «модельное агентство» и образовательные фонды.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70071" y="2352571"/>
            <a:ext cx="1874520" cy="2840355"/>
          </a:xfrm>
          <a:prstGeom prst="rect">
            <a:avLst/>
          </a:prstGeom>
          <a:solidFill>
            <a:srgbClr val="1A1A21"/>
          </a:solidFill>
          <a:ln/>
        </p:spPr>
      </p:sp>
      <p:sp>
        <p:nvSpPr>
          <p:cNvPr id="9" name="Text 7"/>
          <p:cNvSpPr/>
          <p:nvPr/>
        </p:nvSpPr>
        <p:spPr>
          <a:xfrm>
            <a:off x="741521" y="2547059"/>
            <a:ext cx="153162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720"/>
              </a:spcAft>
              <a:buNone/>
            </a:pPr>
            <a:r>
              <a:rPr lang="en-US" sz="12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1521" y="2893933"/>
            <a:ext cx="1531620" cy="5372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6"/>
              </a:lnSpc>
              <a:spcAft>
                <a:spcPts val="1080"/>
              </a:spcAft>
              <a:buNone/>
            </a:pPr>
            <a:r>
              <a:rPr lang="en-US" sz="1600" dirty="0">
                <a:solidFill>
                  <a:srgbClr val="D1C5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Приобретение Little St. James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1521" y="3568125"/>
            <a:ext cx="1531620" cy="1314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$7.95 млн, превращение в частную резиденцию для «вечеринок» с участием несовершеннолетних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13184" y="2352571"/>
            <a:ext cx="1874520" cy="2840355"/>
          </a:xfrm>
          <a:prstGeom prst="rect">
            <a:avLst/>
          </a:prstGeom>
          <a:solidFill>
            <a:srgbClr val="1A1A21"/>
          </a:solidFill>
          <a:ln/>
        </p:spPr>
      </p:sp>
      <p:sp>
        <p:nvSpPr>
          <p:cNvPr id="13" name="Text 11"/>
          <p:cNvSpPr/>
          <p:nvPr/>
        </p:nvSpPr>
        <p:spPr>
          <a:xfrm>
            <a:off x="2784634" y="2547059"/>
            <a:ext cx="153162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720"/>
              </a:spcAft>
              <a:buNone/>
            </a:pPr>
            <a:r>
              <a:rPr lang="en-US" sz="12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2002–2005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4634" y="2894514"/>
            <a:ext cx="1531620" cy="2686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6"/>
              </a:lnSpc>
              <a:spcAft>
                <a:spcPts val="1080"/>
              </a:spcAft>
              <a:buNone/>
            </a:pPr>
            <a:r>
              <a:rPr lang="en-US" sz="1600" dirty="0">
                <a:solidFill>
                  <a:srgbClr val="D1C5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Пальм-Бич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4634" y="3300680"/>
            <a:ext cx="1531620" cy="1314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сексуальной торговли: массажные сессии с оплатой $200–300, вербовка через школьниц 14–17 лет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6296" y="2352571"/>
            <a:ext cx="1874520" cy="2840355"/>
          </a:xfrm>
          <a:prstGeom prst="rect">
            <a:avLst/>
          </a:prstGeom>
          <a:solidFill>
            <a:srgbClr val="1A1A21"/>
          </a:solidFill>
          <a:ln/>
        </p:spPr>
      </p:sp>
      <p:sp>
        <p:nvSpPr>
          <p:cNvPr id="17" name="Text 15"/>
          <p:cNvSpPr/>
          <p:nvPr/>
        </p:nvSpPr>
        <p:spPr>
          <a:xfrm>
            <a:off x="4827746" y="2547059"/>
            <a:ext cx="153162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720"/>
              </a:spcAft>
              <a:buNone/>
            </a:pPr>
            <a:r>
              <a:rPr lang="en-US" sz="12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7746" y="2896210"/>
            <a:ext cx="1531620" cy="800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6"/>
              </a:lnSpc>
              <a:spcAft>
                <a:spcPts val="1080"/>
              </a:spcAft>
              <a:buNone/>
            </a:pPr>
            <a:r>
              <a:rPr lang="en-US" sz="1600" dirty="0">
                <a:solidFill>
                  <a:srgbClr val="D1C5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Первая полицейская жалоба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27746" y="3833336"/>
            <a:ext cx="1531620" cy="8801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Родители 14-летней девочки обращаются в полицию Флориды, начало следствия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99409" y="2352571"/>
            <a:ext cx="1874520" cy="2840355"/>
          </a:xfrm>
          <a:prstGeom prst="rect">
            <a:avLst/>
          </a:prstGeom>
          <a:solidFill>
            <a:srgbClr val="1A1A21"/>
          </a:solidFill>
          <a:ln/>
        </p:spPr>
      </p:sp>
      <p:sp>
        <p:nvSpPr>
          <p:cNvPr id="21" name="Text 19"/>
          <p:cNvSpPr/>
          <p:nvPr/>
        </p:nvSpPr>
        <p:spPr>
          <a:xfrm>
            <a:off x="6870859" y="2547059"/>
            <a:ext cx="153162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720"/>
              </a:spcAft>
              <a:buNone/>
            </a:pPr>
            <a:r>
              <a:rPr lang="en-US" sz="12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0859" y="2893933"/>
            <a:ext cx="1531620" cy="5372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6"/>
              </a:lnSpc>
              <a:spcAft>
                <a:spcPts val="1080"/>
              </a:spcAft>
              <a:buNone/>
            </a:pPr>
            <a:r>
              <a:rPr lang="en-US" sz="1600" dirty="0">
                <a:solidFill>
                  <a:srgbClr val="D1C5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Арест в Тетерборо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70859" y="3565892"/>
            <a:ext cx="1531620" cy="8801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июля, обвинения в сексуальной торговле и сговоре, отказ от признания вины</a:t>
            </a:r>
            <a:endParaRPr lang="en-US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071" y="2352571"/>
            <a:ext cx="1874520" cy="2840355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3184" y="2352571"/>
            <a:ext cx="1874520" cy="2840355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296" y="2352571"/>
            <a:ext cx="1874520" cy="2840355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9409" y="2352571"/>
            <a:ext cx="1874520" cy="2840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500" y="457200"/>
            <a:ext cx="8001000" cy="1828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20"/>
              </a:spcAft>
              <a:buNone/>
            </a:pPr>
            <a:r>
              <a:rPr lang="en-US" sz="900" b="1" dirty="0">
                <a:solidFill>
                  <a:srgbClr val="D4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71500" y="732056"/>
            <a:ext cx="8001000" cy="3829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080"/>
              </a:spcAft>
              <a:buNone/>
            </a:pPr>
            <a:r>
              <a:rPr lang="en-US" sz="25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Судебное соглашение 2008: обвинения против реальности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1500" y="1298377"/>
            <a:ext cx="457200" cy="17145"/>
          </a:xfrm>
          <a:prstGeom prst="rect">
            <a:avLst/>
          </a:prstGeom>
          <a:solidFill>
            <a:srgbClr val="D4A44F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543541"/>
            <a:ext cx="3886200" cy="3617595"/>
          </a:xfrm>
          <a:prstGeom prst="rect">
            <a:avLst/>
          </a:prstGeom>
          <a:solidFill>
            <a:srgbClr val="1A1A21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1863581"/>
            <a:ext cx="3429000" cy="2686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6"/>
              </a:lnSpc>
              <a:spcAft>
                <a:spcPts val="1080"/>
              </a:spcAft>
              <a:buNone/>
            </a:pPr>
            <a:r>
              <a:rPr lang="en-US" sz="1600" dirty="0">
                <a:solidFill>
                  <a:srgbClr val="D1C5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Первоначальные обвинения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543541"/>
            <a:ext cx="3886200" cy="3617595"/>
          </a:xfrm>
          <a:prstGeom prst="rect">
            <a:avLst/>
          </a:prstGeom>
          <a:solidFill>
            <a:srgbClr val="1A1A21"/>
          </a:solidFill>
          <a:ln/>
        </p:spPr>
      </p:sp>
      <p:sp>
        <p:nvSpPr>
          <p:cNvPr id="9" name="Text 7"/>
          <p:cNvSpPr/>
          <p:nvPr/>
        </p:nvSpPr>
        <p:spPr>
          <a:xfrm>
            <a:off x="4914900" y="1863581"/>
            <a:ext cx="3429000" cy="2686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6"/>
              </a:lnSpc>
              <a:spcAft>
                <a:spcPts val="1080"/>
              </a:spcAft>
              <a:buNone/>
            </a:pPr>
            <a:r>
              <a:rPr lang="en-US" sz="1600" dirty="0">
                <a:solidFill>
                  <a:srgbClr val="D1C5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Результат сделки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543541"/>
            <a:ext cx="3886200" cy="36175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0100" y="2268766"/>
            <a:ext cx="3429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Федеральные обвинения в сексуальной торговле несовершеннолетних (возраст жертв 14–17 лет)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45 лет федеральной тюрьмы при признании вины по всем пунктам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жертв идентифицированы следствием Пальм-Бич, сотни фотографий изъято из резиденций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Доказательства свидетельств о принуждении к проституции и транспортировке между штатами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6300" y="1543541"/>
            <a:ext cx="3886200" cy="36175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14900" y="2268766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Признание вины по двум пунктам государственного уровня: сутенёрство и приобретение проститутки несовершеннолетней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месяцев тюрьмы с разрешением на работу 6 дней в неделю (выходы по 12 часов)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как сексуальный преступник уровня 3 (высокий риск рецидива) в Нью-Йорке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Иммунитет для соучастников: соглашение распространялось на «любых потенциальных соучастников», включая Ghislaine Maxwell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500" y="-263426"/>
            <a:ext cx="3771900" cy="7658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080"/>
              </a:spcAft>
              <a:buNone/>
            </a:pPr>
            <a:r>
              <a:rPr lang="en-US" sz="25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Социальный капитал: сеть влиятельных связей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71500" y="823496"/>
            <a:ext cx="457200" cy="17145"/>
          </a:xfrm>
          <a:prstGeom prst="rect">
            <a:avLst/>
          </a:prstGeom>
          <a:solidFill>
            <a:srgbClr val="D4A44F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1024057"/>
            <a:ext cx="3771900" cy="102298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1080"/>
              </a:spcAft>
              <a:buNone/>
            </a:pPr>
            <a:r>
              <a:rPr lang="en-US" sz="14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Эпштейн интегрировался в элитные круги через политику, науку и филантропию, используя деньги и доступ к несовершеннолетним как валюту влияния.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1500" y="2184737"/>
            <a:ext cx="37719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Политические связи: логи полётов показывают 26 поездок Билла Клинтона на борту Lolita Express, встречи с Дональдом Трампом в Мар-а-Лаго (1990-е), дружба с принцем Эндрю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Научное сообщество: пожертвования Harvard ($9 млн, 1998–2005), MIT Media Lab, программы Edge Foundation, тесные связи с Марвином Минским (MIT)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связи: Лес Векснер (владелец Victoria's Secret) передал контроль над $46 млн активов в 1990-х, Гленн Дубин (Highbridge Capital)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вербовки: Ghislaine Maxwell как главный рекрутер, схема «массажистка → сексуальная рабыня → рекрутер» с оплатой $200 за приведённую подругу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511618"/>
            <a:ext cx="3771900" cy="2120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500" y="571500"/>
            <a:ext cx="8001000" cy="1828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20"/>
              </a:spcAft>
              <a:buNone/>
            </a:pPr>
            <a:r>
              <a:rPr lang="en-US" sz="900" b="1" dirty="0">
                <a:solidFill>
                  <a:srgbClr val="D4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71500" y="846356"/>
            <a:ext cx="8001000" cy="3829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080"/>
              </a:spcAft>
              <a:buNone/>
            </a:pPr>
            <a:r>
              <a:rPr lang="en-US" sz="25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Арест 2019 и смерть в камере: обстоятельства и вопросы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1500" y="1549837"/>
            <a:ext cx="457200" cy="17145"/>
          </a:xfrm>
          <a:prstGeom prst="rect">
            <a:avLst/>
          </a:prstGeom>
          <a:solidFill>
            <a:srgbClr val="D4A44F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750978"/>
            <a:ext cx="8001000" cy="7658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1080"/>
              </a:spcAft>
              <a:buNone/>
            </a:pPr>
            <a:r>
              <a:rPr lang="en-US" sz="14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Задержание 6 июля 2019 года в аэропорту Тетерборо после возвращения из Парижа положило начало концу империи, но смерть 10 августа 2019 года в федеральном следственном изоляторе MCC Нью-Йорка породила бесконечные споры.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2656046"/>
            <a:ext cx="8001000" cy="1314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Эпштейн содержался в камере специального назначения 9 South после попытки самоубийства 23 июля. Несмотря на протоколы наблюдения, двое охранников (Tova Noel и Michael Thomas) признали фальсификацию записей журналов, пропустив проверки каждые 30 минут. Медэкспертиза Нью-Йорка установила самоубийство через повешение на наволочке из ткани, но патолог Майкл Баден (нанятый семьёй) выявил переломы гортанных хрящей и щитовидной кости, несовместимые с типичным повешением. Камеры в коридоре не работали, бюро тюремных тюрем признало «сочетание халатности, нехватки персонала и усталости».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500" y="457200"/>
            <a:ext cx="8001000" cy="1828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20"/>
              </a:spcAft>
              <a:buNone/>
            </a:pPr>
            <a:r>
              <a:rPr lang="en-US" sz="900" b="1" dirty="0">
                <a:solidFill>
                  <a:srgbClr val="D4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71500" y="732056"/>
            <a:ext cx="8001000" cy="3829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080"/>
              </a:spcAft>
              <a:buNone/>
            </a:pPr>
            <a:r>
              <a:rPr lang="en-US" sz="25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Последствия: жертвы, компенсации и распад империи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1500" y="1298377"/>
            <a:ext cx="457200" cy="17145"/>
          </a:xfrm>
          <a:prstGeom prst="rect">
            <a:avLst/>
          </a:prstGeom>
          <a:solidFill>
            <a:srgbClr val="D4A44F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497241"/>
            <a:ext cx="8001000" cy="514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1080"/>
              </a:spcAft>
              <a:buNone/>
            </a:pPr>
            <a:r>
              <a:rPr lang="en-US" sz="14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После смерти Эпштейна его estate столкнулся с волной гражданских исков, федеральным расследованием против соучастников и ликвидацией активов для фонда жертв.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2616" y="2239298"/>
            <a:ext cx="1943100" cy="1337310"/>
          </a:xfrm>
          <a:prstGeom prst="rect">
            <a:avLst/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61" y="2392174"/>
            <a:ext cx="1680210" cy="72580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2"/>
              </a:lnSpc>
              <a:buNone/>
            </a:pPr>
            <a:r>
              <a:rPr lang="en-US" sz="16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$634 млн (выплачено 2020–2024)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61" y="3229689"/>
            <a:ext cx="1680210" cy="1943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2"/>
              </a:lnSpc>
              <a:buNone/>
            </a:pPr>
            <a:r>
              <a:rPr lang="en-US" sz="5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РАЗМЕР КОМПЕНСАЦИОННОГО ФОНДА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2591127" y="2239298"/>
            <a:ext cx="1943100" cy="1337310"/>
          </a:xfrm>
          <a:prstGeom prst="rect">
            <a:avLst/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2572" y="2390254"/>
            <a:ext cx="1680210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6"/>
              </a:lnSpc>
              <a:buNone/>
            </a:pPr>
            <a:r>
              <a:rPr lang="en-US" sz="13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 (возраст на момент преступлений 12–16 лет)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22572" y="3128248"/>
            <a:ext cx="1680210" cy="971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2"/>
              </a:lnSpc>
              <a:buNone/>
            </a:pPr>
            <a:r>
              <a:rPr lang="en-US" sz="5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ПОДТВЕРЖДЁННЫХ ЖЕРТВ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4609683" y="2239298"/>
            <a:ext cx="1943100" cy="1337310"/>
          </a:xfrm>
          <a:prstGeom prst="rect">
            <a:avLst/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1128" y="2390656"/>
            <a:ext cx="1680210" cy="7829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3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приговор 20 лет тюрьмы (июнь 2022), штраф $750 тыс., конфискация $21 млн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41128" y="3283357"/>
            <a:ext cx="1680210" cy="971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2"/>
              </a:lnSpc>
              <a:buNone/>
            </a:pPr>
            <a:r>
              <a:rPr lang="en-US" sz="5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GHISLAINE MAXWELL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6628239" y="2239298"/>
            <a:ext cx="1943100" cy="1337310"/>
          </a:xfrm>
          <a:prstGeom prst="rect">
            <a:avLst/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59684" y="2391013"/>
            <a:ext cx="1680210" cy="6915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1"/>
              </a:lnSpc>
              <a:buNone/>
            </a:pPr>
            <a:r>
              <a:rPr lang="en-US" sz="11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$88 млн (особняк Нью-Йорк), $22 млн (острова Little St. James и Great St. James)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59684" y="3192631"/>
            <a:ext cx="1680210" cy="971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2"/>
              </a:lnSpc>
              <a:buNone/>
            </a:pPr>
            <a:r>
              <a:rPr lang="en-US" sz="500" dirty="0">
                <a:solidFill>
                  <a:srgbClr val="D1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ЛИКВИДИРОВАННЫЕ АКТИВЫ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1500" y="571500"/>
            <a:ext cx="3829050" cy="1828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20"/>
              </a:spcAft>
              <a:buNone/>
            </a:pPr>
            <a:r>
              <a:rPr lang="en-US" sz="900" b="1" dirty="0">
                <a:solidFill>
                  <a:srgbClr val="D4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71500" y="846892"/>
            <a:ext cx="3829050" cy="7658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080"/>
              </a:spcAft>
              <a:buNone/>
            </a:pPr>
            <a:r>
              <a:rPr lang="en-US" sz="25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Теории заговора и нераскрытые аспекты сети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71500" y="1933813"/>
            <a:ext cx="457200" cy="17145"/>
          </a:xfrm>
          <a:prstGeom prst="rect">
            <a:avLst/>
          </a:prstGeom>
          <a:solidFill>
            <a:srgbClr val="D4A44F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2134374"/>
            <a:ext cx="3829050" cy="102298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1080"/>
              </a:spcAft>
              <a:buNone/>
            </a:pPr>
            <a:r>
              <a:rPr lang="en-US" sz="1400" dirty="0">
                <a:solidFill>
                  <a:srgbClr val="FEF7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Несмотря на тысячи страниц судебных документов, множество вопросов о масштабе сети и полном списке участников остаются без ответа.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43450" y="571500"/>
            <a:ext cx="3829050" cy="4114800"/>
          </a:xfrm>
          <a:prstGeom prst="roundRect">
            <a:avLst>
              <a:gd name="adj" fmla="val 143"/>
            </a:avLst>
          </a:prstGeom>
          <a:solidFill>
            <a:srgbClr val="1A1A21"/>
          </a:solidFill>
          <a:ln w="5715">
            <a:solidFill>
              <a:srgbClr val="8D6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77765" y="805815"/>
            <a:ext cx="3360420" cy="432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«Список клиентов»: раскрытые судебные документы 2024 года содержат имена 184 ассоциированных лиц (Дэвид Коперфильд, Алан Дершовиц, принц Эндрю), но без прямых обвинений в преступлениях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«Чёрная книга» Эпштейна: телефонный справочник с контактами политиков, голливудских звёзд и бизнесменов (опубликована 2015, полная версия с заметками — 2024)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убийства: отсутствие видеозаписи из камеры, нарязанные протоколы, предполагаемые связи с разведкой (Mossad по версии некоторых источников, официально отрицается)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Незавершённые расследования: роль фондов Gratitude America Ltd., операции в Париже (апартаменты Avenue Foch), возможные соучастники в Карибском бассейне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  <a:effectLst>
            <a:outerShdw sx="100000" sy="100000" kx="0" ky="0" algn="bl" rotWithShape="0" blurRad="171450" dist="5715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231958" y="74474"/>
            <a:ext cx="680085" cy="1828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spcAft>
                <a:spcPts val="720"/>
              </a:spcAft>
              <a:buNone/>
            </a:pPr>
            <a:r>
              <a:rPr lang="en-US" sz="900" b="1" dirty="0">
                <a:solidFill>
                  <a:srgbClr val="D4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71500" y="349865"/>
            <a:ext cx="8001000" cy="90297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64"/>
              </a:lnSpc>
              <a:spcAft>
                <a:spcPts val="1080"/>
              </a:spcAft>
              <a:buNone/>
            </a:pPr>
            <a:r>
              <a:rPr lang="en-US" sz="32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Наследие: системная безнаказанность и реформы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71500" y="1755577"/>
            <a:ext cx="8001000" cy="982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74"/>
              </a:lnSpc>
              <a:spcAft>
                <a:spcPts val="1080"/>
              </a:spcAft>
              <a:buNone/>
            </a:pPr>
            <a:r>
              <a:rPr lang="en-US" sz="1900" dirty="0">
                <a:solidFill>
                  <a:srgbClr val="D4A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Дело Эпштейна стало катализатором пересмотра законов о сексуальной торговле, но подчеркнуло устойчивость элитных сетей к правосудию и селективную применимость закона.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15325" y="4794885"/>
            <a:ext cx="257175" cy="12001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D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1500" y="2874466"/>
            <a:ext cx="8001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«Суровость к сутенёрам» (2022): отмена статута ограничений по искам о торговле людьми в 15 штатах США, включая Нью-Йорк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Реформа федеральных тюрем: введение обязательного видеонаблюдения и исключения «работы вне камеры» для высокопрофильных обвиняемых в сексуальных преступлениях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Продолжающиеся раскрытия: документы Virginia Giuffre vs. Ghislaine Maxwell (2022–2024) экспонируют масштабы сети и механизмы вербовки</a:t>
            </a:r>
            <a:endParaRPr lang="en-US" sz="1000" dirty="0"/>
          </a:p>
          <a:p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algn="l" indent="0" marL="0">
              <a:lnSpc>
                <a:spcPts val="1620"/>
              </a:lnSpc>
              <a:spcAft>
                <a:spcPts val="1080"/>
              </a:spcAft>
              <a:buNone/>
            </a:pPr>
            <a:r>
              <a:rPr lang="en-US" sz="1000" dirty="0">
                <a:solidFill>
                  <a:srgbClr val="FEF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вопросы: полный список клиентов с прямыми доказательствами участия, источники первоначального капитала (1980-е), возможные соучастники в правоохранительных органах Флориды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2026-03-20T10:37:10Z</dcterms:created>
  <dcterms:modified xsi:type="dcterms:W3CDTF">2026-03-20T10:37:10Z</dcterms:modified>
</cp:coreProperties>
</file>